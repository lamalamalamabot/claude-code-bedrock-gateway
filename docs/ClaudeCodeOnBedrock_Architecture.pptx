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75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176" y="9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7682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A10A0-58DF-5131-4556-71FCABA84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6999FE-804E-B428-FD30-79FE95DE00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2F7652-9466-0CEC-A167-D3EFA59BA5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5086D7-9D1E-FFFF-0559-4624A6B772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541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1CB86-0277-ED13-8B27-B52EBD2C2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6" descr="Generic group dashed.">
            <a:extLst>
              <a:ext uri="{FF2B5EF4-FFF2-40B4-BE49-F238E27FC236}">
                <a16:creationId xmlns:a16="http://schemas.microsoft.com/office/drawing/2014/main" id="{E0764D50-7174-9B2E-8CD2-F81B3D0AD414}"/>
              </a:ext>
            </a:extLst>
          </p:cNvPr>
          <p:cNvSpPr/>
          <p:nvPr/>
        </p:nvSpPr>
        <p:spPr>
          <a:xfrm>
            <a:off x="213784" y="2265047"/>
            <a:ext cx="1557267" cy="3446436"/>
          </a:xfrm>
          <a:prstGeom prst="rect">
            <a:avLst/>
          </a:prstGeom>
          <a:noFill/>
          <a:ln w="15875">
            <a:solidFill>
              <a:srgbClr val="7D899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카카오 사용자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99AB209-7A05-2772-3863-804E43557664}"/>
              </a:ext>
            </a:extLst>
          </p:cNvPr>
          <p:cNvSpPr txBox="1"/>
          <p:nvPr/>
        </p:nvSpPr>
        <p:spPr>
          <a:xfrm>
            <a:off x="309369" y="3432634"/>
            <a:ext cx="1412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aws sso login</a:t>
            </a:r>
            <a:endParaRPr lang="en-KR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C293EB3-8026-9570-4A4F-FF7705510A05}"/>
              </a:ext>
            </a:extLst>
          </p:cNvPr>
          <p:cNvSpPr txBox="1"/>
          <p:nvPr/>
        </p:nvSpPr>
        <p:spPr>
          <a:xfrm>
            <a:off x="297794" y="4130159"/>
            <a:ext cx="1434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/>
              <a:t>apiKeyHelper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202C821-FD7F-D2DB-D08B-FCA14552BEB9}"/>
              </a:ext>
            </a:extLst>
          </p:cNvPr>
          <p:cNvSpPr txBox="1"/>
          <p:nvPr/>
        </p:nvSpPr>
        <p:spPr>
          <a:xfrm>
            <a:off x="332388" y="4821819"/>
            <a:ext cx="13660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/>
              <a:t>Claude Code</a:t>
            </a:r>
          </a:p>
          <a:p>
            <a:pPr algn="ctr"/>
            <a:r>
              <a:rPr lang="en-US" altLang="ko-KR"/>
              <a:t>(</a:t>
            </a:r>
            <a:r>
              <a:rPr lang="en-KR" altLang="ko-KR"/>
              <a:t>ALB </a:t>
            </a:r>
            <a:r>
              <a:rPr lang="ko-KR" altLang="en-US"/>
              <a:t>호출</a:t>
            </a:r>
            <a:r>
              <a:rPr lang="en-US" altLang="ko-KR"/>
              <a:t>)</a:t>
            </a:r>
            <a:endParaRPr lang="en-KR"/>
          </a:p>
        </p:txBody>
      </p:sp>
      <p:grpSp>
        <p:nvGrpSpPr>
          <p:cNvPr id="75" name="Group 74" descr="Region group.">
            <a:extLst>
              <a:ext uri="{FF2B5EF4-FFF2-40B4-BE49-F238E27FC236}">
                <a16:creationId xmlns:a16="http://schemas.microsoft.com/office/drawing/2014/main" id="{2C88F13F-06C2-48D2-9ADB-25578AEBDC4E}"/>
              </a:ext>
            </a:extLst>
          </p:cNvPr>
          <p:cNvGrpSpPr/>
          <p:nvPr/>
        </p:nvGrpSpPr>
        <p:grpSpPr>
          <a:xfrm>
            <a:off x="2250591" y="310270"/>
            <a:ext cx="8004758" cy="6343748"/>
            <a:chOff x="4215623" y="1512744"/>
            <a:chExt cx="8004758" cy="6343748"/>
          </a:xfrm>
        </p:grpSpPr>
        <p:sp>
          <p:nvSpPr>
            <p:cNvPr id="76" name="Rectangle 75" descr="Region group">
              <a:extLst>
                <a:ext uri="{FF2B5EF4-FFF2-40B4-BE49-F238E27FC236}">
                  <a16:creationId xmlns:a16="http://schemas.microsoft.com/office/drawing/2014/main" id="{0B67E44E-364A-330C-802B-3CF84228CE86}"/>
                </a:ext>
              </a:extLst>
            </p:cNvPr>
            <p:cNvSpPr/>
            <p:nvPr/>
          </p:nvSpPr>
          <p:spPr>
            <a:xfrm>
              <a:off x="4215623" y="1512744"/>
              <a:ext cx="8004758" cy="6343748"/>
            </a:xfrm>
            <a:prstGeom prst="rect">
              <a:avLst/>
            </a:prstGeom>
            <a:noFill/>
            <a:ln w="15875">
              <a:solidFill>
                <a:srgbClr val="00A4A6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서울 리전 </a:t>
              </a:r>
              <a:r>
                <a:rPr lang="en-US" altLang="ko-KR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ap-northeast-2</a:t>
              </a:r>
              <a:r>
                <a:rPr lang="en-US" altLang="ko-KR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77" name="Graphic 76" descr="Region group icon.">
              <a:extLst>
                <a:ext uri="{FF2B5EF4-FFF2-40B4-BE49-F238E27FC236}">
                  <a16:creationId xmlns:a16="http://schemas.microsoft.com/office/drawing/2014/main" id="{80C00BD2-1F2E-EAA2-3E4C-DE220857E48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4215623" y="1512745"/>
              <a:ext cx="381000" cy="381000"/>
            </a:xfrm>
            <a:prstGeom prst="rect">
              <a:avLst/>
            </a:prstGeom>
          </p:spPr>
        </p:pic>
      </p:grpSp>
      <p:grpSp>
        <p:nvGrpSpPr>
          <p:cNvPr id="78" name="Group 77" descr="AWS Account group.">
            <a:extLst>
              <a:ext uri="{FF2B5EF4-FFF2-40B4-BE49-F238E27FC236}">
                <a16:creationId xmlns:a16="http://schemas.microsoft.com/office/drawing/2014/main" id="{4B6939A3-B410-042E-3899-AE6BFACBED37}"/>
              </a:ext>
            </a:extLst>
          </p:cNvPr>
          <p:cNvGrpSpPr/>
          <p:nvPr/>
        </p:nvGrpSpPr>
        <p:grpSpPr>
          <a:xfrm>
            <a:off x="2401551" y="905841"/>
            <a:ext cx="2306112" cy="1779121"/>
            <a:chOff x="4215623" y="3723399"/>
            <a:chExt cx="2306112" cy="1779121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F81C19C1-7324-215F-4624-A9624C9590A9}"/>
                </a:ext>
              </a:extLst>
            </p:cNvPr>
            <p:cNvSpPr/>
            <p:nvPr/>
          </p:nvSpPr>
          <p:spPr>
            <a:xfrm>
              <a:off x="4215623" y="3723399"/>
              <a:ext cx="2306112" cy="1779121"/>
            </a:xfrm>
            <a:prstGeom prst="rect">
              <a:avLst/>
            </a:prstGeom>
            <a:noFill/>
            <a:ln w="15875">
              <a:solidFill>
                <a:srgbClr val="E7157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Payer Account</a:t>
              </a:r>
            </a:p>
          </p:txBody>
        </p:sp>
        <p:pic>
          <p:nvPicPr>
            <p:cNvPr id="80" name="Graphic 79" descr="AWS account group icon.">
              <a:extLst>
                <a:ext uri="{FF2B5EF4-FFF2-40B4-BE49-F238E27FC236}">
                  <a16:creationId xmlns:a16="http://schemas.microsoft.com/office/drawing/2014/main" id="{69FACFF6-4B18-898F-7FB6-58F28BA2E63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4215623" y="3723399"/>
              <a:ext cx="381000" cy="381000"/>
            </a:xfrm>
            <a:prstGeom prst="rect">
              <a:avLst/>
            </a:prstGeom>
          </p:spPr>
        </p:pic>
      </p:grpSp>
      <p:grpSp>
        <p:nvGrpSpPr>
          <p:cNvPr id="81" name="Group 80" descr="AWS Account group.">
            <a:extLst>
              <a:ext uri="{FF2B5EF4-FFF2-40B4-BE49-F238E27FC236}">
                <a16:creationId xmlns:a16="http://schemas.microsoft.com/office/drawing/2014/main" id="{0674E681-CFA3-61F1-53E9-051526374968}"/>
              </a:ext>
            </a:extLst>
          </p:cNvPr>
          <p:cNvGrpSpPr/>
          <p:nvPr/>
        </p:nvGrpSpPr>
        <p:grpSpPr>
          <a:xfrm>
            <a:off x="4857142" y="898026"/>
            <a:ext cx="5257529" cy="5557677"/>
            <a:chOff x="4215623" y="3723399"/>
            <a:chExt cx="5257529" cy="5557677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2D060C58-8B17-37E7-E1CB-D165663B1CA1}"/>
                </a:ext>
              </a:extLst>
            </p:cNvPr>
            <p:cNvSpPr/>
            <p:nvPr/>
          </p:nvSpPr>
          <p:spPr>
            <a:xfrm>
              <a:off x="4215623" y="3723399"/>
              <a:ext cx="5257529" cy="5557677"/>
            </a:xfrm>
            <a:prstGeom prst="rect">
              <a:avLst/>
            </a:prstGeom>
            <a:noFill/>
            <a:ln w="15875">
              <a:solidFill>
                <a:srgbClr val="E7157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ClaudeCode Account</a:t>
              </a:r>
            </a:p>
          </p:txBody>
        </p:sp>
        <p:pic>
          <p:nvPicPr>
            <p:cNvPr id="83" name="Graphic 82" descr="AWS account group icon.">
              <a:extLst>
                <a:ext uri="{FF2B5EF4-FFF2-40B4-BE49-F238E27FC236}">
                  <a16:creationId xmlns:a16="http://schemas.microsoft.com/office/drawing/2014/main" id="{0F7A4F77-C4F3-E3CE-9EE5-A44CA2B3496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4215623" y="3723399"/>
              <a:ext cx="381000" cy="381000"/>
            </a:xfrm>
            <a:prstGeom prst="rect">
              <a:avLst/>
            </a:prstGeom>
          </p:spPr>
        </p:pic>
      </p:grpSp>
      <p:grpSp>
        <p:nvGrpSpPr>
          <p:cNvPr id="84" name="Group 83" descr="AWS Account group.">
            <a:extLst>
              <a:ext uri="{FF2B5EF4-FFF2-40B4-BE49-F238E27FC236}">
                <a16:creationId xmlns:a16="http://schemas.microsoft.com/office/drawing/2014/main" id="{5BC1FA82-7715-6561-9323-2E4059CDFF87}"/>
              </a:ext>
            </a:extLst>
          </p:cNvPr>
          <p:cNvGrpSpPr/>
          <p:nvPr/>
        </p:nvGrpSpPr>
        <p:grpSpPr>
          <a:xfrm>
            <a:off x="2408297" y="4684397"/>
            <a:ext cx="2306113" cy="1779121"/>
            <a:chOff x="4215623" y="3723399"/>
            <a:chExt cx="2306113" cy="1779121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3FA7D94E-697B-AFC7-521C-245C5F83408E}"/>
                </a:ext>
              </a:extLst>
            </p:cNvPr>
            <p:cNvSpPr/>
            <p:nvPr/>
          </p:nvSpPr>
          <p:spPr>
            <a:xfrm>
              <a:off x="4215624" y="3723399"/>
              <a:ext cx="2306112" cy="1779121"/>
            </a:xfrm>
            <a:prstGeom prst="rect">
              <a:avLst/>
            </a:prstGeom>
            <a:noFill/>
            <a:ln w="15875">
              <a:solidFill>
                <a:srgbClr val="E7157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Logging Account</a:t>
              </a:r>
            </a:p>
          </p:txBody>
        </p:sp>
        <p:pic>
          <p:nvPicPr>
            <p:cNvPr id="86" name="Graphic 85" descr="AWS account group icon.">
              <a:extLst>
                <a:ext uri="{FF2B5EF4-FFF2-40B4-BE49-F238E27FC236}">
                  <a16:creationId xmlns:a16="http://schemas.microsoft.com/office/drawing/2014/main" id="{B240E179-8522-D9CD-FE63-1A472DC63A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4215623" y="3723399"/>
              <a:ext cx="381000" cy="381000"/>
            </a:xfrm>
            <a:prstGeom prst="rect">
              <a:avLst/>
            </a:prstGeom>
          </p:spPr>
        </p:pic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95C2DF53-1890-BAD8-5E8B-E06D210093DC}"/>
              </a:ext>
            </a:extLst>
          </p:cNvPr>
          <p:cNvGrpSpPr/>
          <p:nvPr/>
        </p:nvGrpSpPr>
        <p:grpSpPr>
          <a:xfrm>
            <a:off x="2433038" y="1462946"/>
            <a:ext cx="2243137" cy="1038999"/>
            <a:chOff x="5077094" y="3306910"/>
            <a:chExt cx="2243137" cy="1038999"/>
          </a:xfrm>
        </p:grpSpPr>
        <p:pic>
          <p:nvPicPr>
            <p:cNvPr id="87" name="Graphic 6" descr="AWS IAM Identity Center service icon.">
              <a:extLst>
                <a:ext uri="{FF2B5EF4-FFF2-40B4-BE49-F238E27FC236}">
                  <a16:creationId xmlns:a16="http://schemas.microsoft.com/office/drawing/2014/main" id="{0BDC4D95-8FC4-E193-E6AD-7D102BA224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 bwMode="auto">
            <a:xfrm>
              <a:off x="5816869" y="3306910"/>
              <a:ext cx="762000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8" name="TextBox 9">
              <a:extLst>
                <a:ext uri="{FF2B5EF4-FFF2-40B4-BE49-F238E27FC236}">
                  <a16:creationId xmlns:a16="http://schemas.microsoft.com/office/drawing/2014/main" id="{A201CADA-928E-B432-3A78-EF1C3774D7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7094" y="4068910"/>
              <a:ext cx="2243137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AWS IAM Identity Center </a:t>
              </a:r>
              <a:endParaRPr lang="en-US" altLang="en-US" sz="10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0" name="Group 89" descr="Corporate data center group.">
            <a:extLst>
              <a:ext uri="{FF2B5EF4-FFF2-40B4-BE49-F238E27FC236}">
                <a16:creationId xmlns:a16="http://schemas.microsoft.com/office/drawing/2014/main" id="{A22EE16C-2A9B-2FC5-AFB0-089B4EBF1E74}"/>
              </a:ext>
            </a:extLst>
          </p:cNvPr>
          <p:cNvGrpSpPr/>
          <p:nvPr/>
        </p:nvGrpSpPr>
        <p:grpSpPr>
          <a:xfrm>
            <a:off x="126871" y="310270"/>
            <a:ext cx="1765300" cy="6343748"/>
            <a:chOff x="10036828" y="2618865"/>
            <a:chExt cx="1765300" cy="6343748"/>
          </a:xfrm>
        </p:grpSpPr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581A7BC0-3DDA-C178-DE67-88B5599126E3}"/>
                </a:ext>
              </a:extLst>
            </p:cNvPr>
            <p:cNvSpPr/>
            <p:nvPr/>
          </p:nvSpPr>
          <p:spPr>
            <a:xfrm>
              <a:off x="10036828" y="2618865"/>
              <a:ext cx="1765300" cy="6343748"/>
            </a:xfrm>
            <a:prstGeom prst="rect">
              <a:avLst/>
            </a:prstGeom>
            <a:noFill/>
            <a:ln w="15875">
              <a:solidFill>
                <a:srgbClr val="7D899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kakao</a:t>
              </a:r>
            </a:p>
          </p:txBody>
        </p:sp>
        <p:pic>
          <p:nvPicPr>
            <p:cNvPr id="92" name="Graphic 91" descr="Corporate data center group icon. ">
              <a:extLst>
                <a:ext uri="{FF2B5EF4-FFF2-40B4-BE49-F238E27FC236}">
                  <a16:creationId xmlns:a16="http://schemas.microsoft.com/office/drawing/2014/main" id="{24605759-6297-4CD2-980B-EEE1252F804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10036828" y="2618865"/>
              <a:ext cx="381000" cy="381000"/>
            </a:xfrm>
            <a:prstGeom prst="rect">
              <a:avLst/>
            </a:prstGeom>
          </p:spPr>
        </p:pic>
      </p:grpSp>
      <p:pic>
        <p:nvPicPr>
          <p:cNvPr id="93" name="Graphic 92">
            <a:extLst>
              <a:ext uri="{FF2B5EF4-FFF2-40B4-BE49-F238E27FC236}">
                <a16:creationId xmlns:a16="http://schemas.microsoft.com/office/drawing/2014/main" id="{04D51FBB-C4F8-DADC-B9B6-A896479F5C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9737" y="1631632"/>
            <a:ext cx="1235280" cy="411760"/>
          </a:xfrm>
          <a:prstGeom prst="rect">
            <a:avLst/>
          </a:prstGeom>
        </p:spPr>
      </p:pic>
      <p:grpSp>
        <p:nvGrpSpPr>
          <p:cNvPr id="96" name="Group 95">
            <a:extLst>
              <a:ext uri="{FF2B5EF4-FFF2-40B4-BE49-F238E27FC236}">
                <a16:creationId xmlns:a16="http://schemas.microsoft.com/office/drawing/2014/main" id="{6A6E0718-1EF7-7629-9A91-9A4F1637E4F6}"/>
              </a:ext>
            </a:extLst>
          </p:cNvPr>
          <p:cNvGrpSpPr/>
          <p:nvPr/>
        </p:nvGrpSpPr>
        <p:grpSpPr>
          <a:xfrm>
            <a:off x="2439784" y="5184657"/>
            <a:ext cx="2239962" cy="1031442"/>
            <a:chOff x="6511999" y="3087037"/>
            <a:chExt cx="2239962" cy="1031442"/>
          </a:xfrm>
        </p:grpSpPr>
        <p:pic>
          <p:nvPicPr>
            <p:cNvPr id="94" name="Graphic 8" descr="Amazon Simple Storage Service (Amazon S3) service icon.">
              <a:extLst>
                <a:ext uri="{FF2B5EF4-FFF2-40B4-BE49-F238E27FC236}">
                  <a16:creationId xmlns:a16="http://schemas.microsoft.com/office/drawing/2014/main" id="{C4351D87-D4BB-7E0B-128E-9647F93E01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 bwMode="auto">
            <a:xfrm>
              <a:off x="7251774" y="3087037"/>
              <a:ext cx="762000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5" name="TextBox 9">
              <a:extLst>
                <a:ext uri="{FF2B5EF4-FFF2-40B4-BE49-F238E27FC236}">
                  <a16:creationId xmlns:a16="http://schemas.microsoft.com/office/drawing/2014/main" id="{F2A0FD51-36DC-57FE-CC0D-4E53D8EAF9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1999" y="3841480"/>
              <a:ext cx="223996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Amazon S3</a:t>
              </a: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192DFEFE-0477-E881-CFD6-ADFC154C6917}"/>
              </a:ext>
            </a:extLst>
          </p:cNvPr>
          <p:cNvGrpSpPr/>
          <p:nvPr/>
        </p:nvGrpSpPr>
        <p:grpSpPr>
          <a:xfrm>
            <a:off x="4576219" y="3349944"/>
            <a:ext cx="2243137" cy="1038999"/>
            <a:chOff x="4539117" y="3163999"/>
            <a:chExt cx="2243137" cy="1038999"/>
          </a:xfrm>
        </p:grpSpPr>
        <p:pic>
          <p:nvPicPr>
            <p:cNvPr id="100" name="Graphic 7" descr="Amazon API Gateway service icon.">
              <a:extLst>
                <a:ext uri="{FF2B5EF4-FFF2-40B4-BE49-F238E27FC236}">
                  <a16:creationId xmlns:a16="http://schemas.microsoft.com/office/drawing/2014/main" id="{6816468B-D8A1-031C-86B0-22DF7D7A45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 bwMode="auto">
            <a:xfrm>
              <a:off x="5278892" y="3163999"/>
              <a:ext cx="762000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1" name="TextBox 9">
              <a:extLst>
                <a:ext uri="{FF2B5EF4-FFF2-40B4-BE49-F238E27FC236}">
                  <a16:creationId xmlns:a16="http://schemas.microsoft.com/office/drawing/2014/main" id="{E7DA279B-B071-2D8D-52E2-3BB731EAB3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9117" y="3925999"/>
              <a:ext cx="2243137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Amazon API Gateway</a:t>
              </a:r>
            </a:p>
          </p:txBody>
        </p:sp>
      </p:grpSp>
      <p:grpSp>
        <p:nvGrpSpPr>
          <p:cNvPr id="102" name="Group 101" descr="Public subnet group.">
            <a:extLst>
              <a:ext uri="{FF2B5EF4-FFF2-40B4-BE49-F238E27FC236}">
                <a16:creationId xmlns:a16="http://schemas.microsoft.com/office/drawing/2014/main" id="{E65D2D75-FA8F-2E5C-0E13-AFC844952750}"/>
              </a:ext>
            </a:extLst>
          </p:cNvPr>
          <p:cNvGrpSpPr/>
          <p:nvPr/>
        </p:nvGrpSpPr>
        <p:grpSpPr>
          <a:xfrm>
            <a:off x="6677627" y="1356422"/>
            <a:ext cx="3263783" cy="1482030"/>
            <a:chOff x="6147454" y="2618865"/>
            <a:chExt cx="3263783" cy="1482030"/>
          </a:xfrm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A867630B-3DEB-5267-4D5B-15F142FF2EF2}"/>
                </a:ext>
              </a:extLst>
            </p:cNvPr>
            <p:cNvSpPr/>
            <p:nvPr/>
          </p:nvSpPr>
          <p:spPr>
            <a:xfrm>
              <a:off x="6147454" y="2618865"/>
              <a:ext cx="3263783" cy="1482030"/>
            </a:xfrm>
            <a:prstGeom prst="rect">
              <a:avLst/>
            </a:prstGeom>
            <a:noFill/>
            <a:ln w="15875">
              <a:solidFill>
                <a:srgbClr val="7AA116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 bIns="4572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Public subnet</a:t>
              </a:r>
            </a:p>
          </p:txBody>
        </p:sp>
        <p:pic>
          <p:nvPicPr>
            <p:cNvPr id="104" name="Graphic 103" descr="Public subnet group icon. ">
              <a:extLst>
                <a:ext uri="{FF2B5EF4-FFF2-40B4-BE49-F238E27FC236}">
                  <a16:creationId xmlns:a16="http://schemas.microsoft.com/office/drawing/2014/main" id="{C7DB94E2-8119-31E5-DDAA-14FC2E5A3A4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6147454" y="2618865"/>
              <a:ext cx="381000" cy="381000"/>
            </a:xfrm>
            <a:prstGeom prst="rect">
              <a:avLst/>
            </a:prstGeom>
          </p:spPr>
        </p:pic>
      </p:grpSp>
      <p:grpSp>
        <p:nvGrpSpPr>
          <p:cNvPr id="105" name="Group 104" descr="Private subnet group.">
            <a:extLst>
              <a:ext uri="{FF2B5EF4-FFF2-40B4-BE49-F238E27FC236}">
                <a16:creationId xmlns:a16="http://schemas.microsoft.com/office/drawing/2014/main" id="{D547BABB-D590-6F4E-F43A-2DF91443E1C4}"/>
              </a:ext>
            </a:extLst>
          </p:cNvPr>
          <p:cNvGrpSpPr/>
          <p:nvPr/>
        </p:nvGrpSpPr>
        <p:grpSpPr>
          <a:xfrm>
            <a:off x="6677627" y="3036767"/>
            <a:ext cx="3263783" cy="1537249"/>
            <a:chOff x="4215623" y="2618864"/>
            <a:chExt cx="3263783" cy="1537249"/>
          </a:xfrm>
        </p:grpSpPr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458243F1-C2F9-4710-CB73-D4D3E619A5F3}"/>
                </a:ext>
              </a:extLst>
            </p:cNvPr>
            <p:cNvSpPr/>
            <p:nvPr/>
          </p:nvSpPr>
          <p:spPr>
            <a:xfrm>
              <a:off x="4215623" y="2618864"/>
              <a:ext cx="3263783" cy="1537249"/>
            </a:xfrm>
            <a:prstGeom prst="rect">
              <a:avLst/>
            </a:prstGeom>
            <a:noFill/>
            <a:ln w="15875">
              <a:solidFill>
                <a:srgbClr val="00A4A6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 bIns="4572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Private subnet</a:t>
              </a:r>
            </a:p>
          </p:txBody>
        </p:sp>
        <p:pic>
          <p:nvPicPr>
            <p:cNvPr id="107" name="Graphic 106" descr="Private subnet group icon. ">
              <a:extLst>
                <a:ext uri="{FF2B5EF4-FFF2-40B4-BE49-F238E27FC236}">
                  <a16:creationId xmlns:a16="http://schemas.microsoft.com/office/drawing/2014/main" id="{4EDF13BC-6561-8182-CC7D-3BD45A7FC93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4215623" y="2618865"/>
              <a:ext cx="381000" cy="381000"/>
            </a:xfrm>
            <a:prstGeom prst="rect">
              <a:avLst/>
            </a:prstGeom>
          </p:spPr>
        </p:pic>
      </p:grpSp>
      <p:grpSp>
        <p:nvGrpSpPr>
          <p:cNvPr id="108" name="Group 107" descr="Private subnet group.">
            <a:extLst>
              <a:ext uri="{FF2B5EF4-FFF2-40B4-BE49-F238E27FC236}">
                <a16:creationId xmlns:a16="http://schemas.microsoft.com/office/drawing/2014/main" id="{CBEFDA3D-AD41-EC33-09D5-3F2CEDF0BF26}"/>
              </a:ext>
            </a:extLst>
          </p:cNvPr>
          <p:cNvGrpSpPr/>
          <p:nvPr/>
        </p:nvGrpSpPr>
        <p:grpSpPr>
          <a:xfrm>
            <a:off x="6677627" y="4772331"/>
            <a:ext cx="3263784" cy="1537249"/>
            <a:chOff x="4215623" y="2618864"/>
            <a:chExt cx="3263784" cy="1537249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85CC8C0F-EB1A-6685-5151-3A0070B7C127}"/>
                </a:ext>
              </a:extLst>
            </p:cNvPr>
            <p:cNvSpPr/>
            <p:nvPr/>
          </p:nvSpPr>
          <p:spPr>
            <a:xfrm>
              <a:off x="4215623" y="2618864"/>
              <a:ext cx="3263784" cy="1537249"/>
            </a:xfrm>
            <a:prstGeom prst="rect">
              <a:avLst/>
            </a:prstGeom>
            <a:noFill/>
            <a:ln w="15875">
              <a:solidFill>
                <a:srgbClr val="00A4A6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 bIns="4572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Isolated subnet</a:t>
              </a:r>
            </a:p>
          </p:txBody>
        </p:sp>
        <p:pic>
          <p:nvPicPr>
            <p:cNvPr id="110" name="Graphic 109" descr="Private subnet group icon. ">
              <a:extLst>
                <a:ext uri="{FF2B5EF4-FFF2-40B4-BE49-F238E27FC236}">
                  <a16:creationId xmlns:a16="http://schemas.microsoft.com/office/drawing/2014/main" id="{5A776D07-30FA-EF9A-30DF-E6C545E539C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4215623" y="2618865"/>
              <a:ext cx="381000" cy="381000"/>
            </a:xfrm>
            <a:prstGeom prst="rect">
              <a:avLst/>
            </a:prstGeom>
          </p:spPr>
        </p:pic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E2881712-E66A-26C1-8C53-1EC5E98415AF}"/>
              </a:ext>
            </a:extLst>
          </p:cNvPr>
          <p:cNvGrpSpPr/>
          <p:nvPr/>
        </p:nvGrpSpPr>
        <p:grpSpPr>
          <a:xfrm>
            <a:off x="4557169" y="1734502"/>
            <a:ext cx="2279650" cy="1225252"/>
            <a:chOff x="4539117" y="4549663"/>
            <a:chExt cx="2279650" cy="1225252"/>
          </a:xfrm>
        </p:grpSpPr>
        <p:pic>
          <p:nvPicPr>
            <p:cNvPr id="111" name="Graphic 23" descr="Amazon DynamoDB service icon.">
              <a:extLst>
                <a:ext uri="{FF2B5EF4-FFF2-40B4-BE49-F238E27FC236}">
                  <a16:creationId xmlns:a16="http://schemas.microsoft.com/office/drawing/2014/main" id="{84403FB4-9BAD-E09D-F719-2429D50BB6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 bwMode="auto">
            <a:xfrm>
              <a:off x="5286829" y="4549663"/>
              <a:ext cx="762000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2" name="TextBox 12">
              <a:extLst>
                <a:ext uri="{FF2B5EF4-FFF2-40B4-BE49-F238E27FC236}">
                  <a16:creationId xmlns:a16="http://schemas.microsoft.com/office/drawing/2014/main" id="{49A139C0-B83D-5467-E3FE-F32B090546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9117" y="5313250"/>
              <a:ext cx="22796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Virtual Key </a:t>
              </a:r>
              <a:r>
                <a:rPr lang="ko-KR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캐시</a:t>
              </a:r>
              <a:endPara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  <a:p>
              <a:pPr algn="ctr" eaLnBrk="1" hangingPunct="1"/>
              <a:r>
                <a:rPr lang="en-US" altLang="ko-KR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(</a:t>
              </a:r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Amazon DynamoDB</a:t>
              </a:r>
              <a:r>
                <a:rPr lang="en-US" altLang="ko-KR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)</a:t>
              </a:r>
              <a:endPara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80ADE81E-BEC4-B5EF-566C-BE4F3E46D5F4}"/>
              </a:ext>
            </a:extLst>
          </p:cNvPr>
          <p:cNvGrpSpPr/>
          <p:nvPr/>
        </p:nvGrpSpPr>
        <p:grpSpPr>
          <a:xfrm>
            <a:off x="7400478" y="5206940"/>
            <a:ext cx="2243137" cy="1040586"/>
            <a:chOff x="7853319" y="4818684"/>
            <a:chExt cx="2243137" cy="1040586"/>
          </a:xfrm>
        </p:grpSpPr>
        <p:pic>
          <p:nvPicPr>
            <p:cNvPr id="113" name="Graphic 7" descr="Amazon Aurora service icon.">
              <a:extLst>
                <a:ext uri="{FF2B5EF4-FFF2-40B4-BE49-F238E27FC236}">
                  <a16:creationId xmlns:a16="http://schemas.microsoft.com/office/drawing/2014/main" id="{333B8ACB-765D-0124-B2F8-62F572C94E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 bwMode="auto">
            <a:xfrm>
              <a:off x="8602619" y="4818684"/>
              <a:ext cx="762000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4" name="TextBox 9">
              <a:extLst>
                <a:ext uri="{FF2B5EF4-FFF2-40B4-BE49-F238E27FC236}">
                  <a16:creationId xmlns:a16="http://schemas.microsoft.com/office/drawing/2014/main" id="{55FBB3FB-8449-CCEC-6CFA-231F42CA08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53319" y="5582271"/>
              <a:ext cx="2243137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Amazon Aurora</a:t>
              </a: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0728973E-E66E-E536-409F-76EEFB0C1B8D}"/>
              </a:ext>
            </a:extLst>
          </p:cNvPr>
          <p:cNvGrpSpPr/>
          <p:nvPr/>
        </p:nvGrpSpPr>
        <p:grpSpPr>
          <a:xfrm>
            <a:off x="8115483" y="3317615"/>
            <a:ext cx="2279650" cy="1222077"/>
            <a:chOff x="8024543" y="3171814"/>
            <a:chExt cx="2279650" cy="1222077"/>
          </a:xfrm>
        </p:grpSpPr>
        <p:pic>
          <p:nvPicPr>
            <p:cNvPr id="115" name="Graphic 14" descr="AWS Fargate service icon.">
              <a:extLst>
                <a:ext uri="{FF2B5EF4-FFF2-40B4-BE49-F238E27FC236}">
                  <a16:creationId xmlns:a16="http://schemas.microsoft.com/office/drawing/2014/main" id="{2C1CE175-4F89-AB05-A6AA-447DEAB149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 bwMode="auto">
            <a:xfrm>
              <a:off x="8796068" y="3171814"/>
              <a:ext cx="762000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6" name="TextBox 12">
              <a:extLst>
                <a:ext uri="{FF2B5EF4-FFF2-40B4-BE49-F238E27FC236}">
                  <a16:creationId xmlns:a16="http://schemas.microsoft.com/office/drawing/2014/main" id="{9F71D6D2-BE23-0F71-4E7F-6206199A9D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24543" y="3932226"/>
              <a:ext cx="22796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LiteLLM</a:t>
              </a:r>
            </a:p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(AWS Fargate)</a:t>
              </a: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BFA46D8A-A55D-DED9-6156-32FDA749CDBD}"/>
              </a:ext>
            </a:extLst>
          </p:cNvPr>
          <p:cNvGrpSpPr/>
          <p:nvPr/>
        </p:nvGrpSpPr>
        <p:grpSpPr>
          <a:xfrm>
            <a:off x="7790093" y="1850498"/>
            <a:ext cx="1313319" cy="751661"/>
            <a:chOff x="6717123" y="2805113"/>
            <a:chExt cx="1313319" cy="751661"/>
          </a:xfrm>
        </p:grpSpPr>
        <p:pic>
          <p:nvPicPr>
            <p:cNvPr id="121" name="Graphic 120" descr="Application Load Balancer resource icon for the Elastic Load Balancing service.">
              <a:extLst>
                <a:ext uri="{FF2B5EF4-FFF2-40B4-BE49-F238E27FC236}">
                  <a16:creationId xmlns:a16="http://schemas.microsoft.com/office/drawing/2014/main" id="{6E795E93-2D12-BCD1-71C4-7275248AF50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134507" y="2805113"/>
              <a:ext cx="457200" cy="457200"/>
            </a:xfrm>
            <a:prstGeom prst="rect">
              <a:avLst/>
            </a:prstGeom>
          </p:spPr>
        </p:pic>
        <p:sp>
          <p:nvSpPr>
            <p:cNvPr id="122" name="TextBox 19">
              <a:extLst>
                <a:ext uri="{FF2B5EF4-FFF2-40B4-BE49-F238E27FC236}">
                  <a16:creationId xmlns:a16="http://schemas.microsoft.com/office/drawing/2014/main" id="{935CCB46-49F6-98F9-E25B-CB1DEAB8CC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17123" y="3279775"/>
              <a:ext cx="1313319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ALB</a:t>
              </a:r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4841EA5C-CF85-8BC5-E690-5ACE248C72AA}"/>
              </a:ext>
            </a:extLst>
          </p:cNvPr>
          <p:cNvGrpSpPr/>
          <p:nvPr/>
        </p:nvGrpSpPr>
        <p:grpSpPr>
          <a:xfrm>
            <a:off x="6924273" y="3501345"/>
            <a:ext cx="1731641" cy="957604"/>
            <a:chOff x="4757104" y="2781300"/>
            <a:chExt cx="1731641" cy="957604"/>
          </a:xfrm>
        </p:grpSpPr>
        <p:pic>
          <p:nvPicPr>
            <p:cNvPr id="124" name="Graphic 13" descr="Lambda function resource icon for the AWS Lambda service icon.">
              <a:extLst>
                <a:ext uri="{FF2B5EF4-FFF2-40B4-BE49-F238E27FC236}">
                  <a16:creationId xmlns:a16="http://schemas.microsoft.com/office/drawing/2014/main" id="{71118EE0-7FAD-E723-FCB2-7277A6C653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p:blipFill>
          <p:spPr bwMode="auto">
            <a:xfrm>
              <a:off x="5394325" y="2781300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5" name="TextBox 17">
              <a:extLst>
                <a:ext uri="{FF2B5EF4-FFF2-40B4-BE49-F238E27FC236}">
                  <a16:creationId xmlns:a16="http://schemas.microsoft.com/office/drawing/2014/main" id="{CD737D05-1EA6-0168-CE08-3A63C5EFE3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7104" y="3277239"/>
              <a:ext cx="173164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Virtual Key </a:t>
              </a:r>
              <a:r>
                <a:rPr lang="ko-KR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생성</a:t>
              </a:r>
              <a:r>
                <a:rPr lang="en-US" altLang="ko-KR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/</a:t>
              </a:r>
              <a:r>
                <a:rPr lang="ko-KR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조회</a:t>
              </a:r>
              <a:endPara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  <a:p>
              <a:pPr algn="ctr" eaLnBrk="1" hangingPunct="1"/>
              <a:r>
                <a:rPr lang="en-US" altLang="ko-KR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(</a:t>
              </a:r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Lambda function</a:t>
              </a:r>
              <a:r>
                <a:rPr lang="en-US" altLang="ko-KR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)</a:t>
              </a:r>
              <a:endPara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8EBD514C-E1EB-6317-11C0-96BFEA653045}"/>
              </a:ext>
            </a:extLst>
          </p:cNvPr>
          <p:cNvGrpSpPr/>
          <p:nvPr/>
        </p:nvGrpSpPr>
        <p:grpSpPr>
          <a:xfrm>
            <a:off x="10081252" y="3324205"/>
            <a:ext cx="2278851" cy="1225252"/>
            <a:chOff x="2201864" y="1182688"/>
            <a:chExt cx="2278851" cy="1225252"/>
          </a:xfrm>
        </p:grpSpPr>
        <p:pic>
          <p:nvPicPr>
            <p:cNvPr id="127" name="Graphic 126" descr="Amazon Bedrock service icon.">
              <a:extLst>
                <a:ext uri="{FF2B5EF4-FFF2-40B4-BE49-F238E27FC236}">
                  <a16:creationId xmlns:a16="http://schemas.microsoft.com/office/drawing/2014/main" id="{9A6C1162-8E05-93B9-BEB1-9E752DB5502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>
              <a:off x="2967436" y="1182688"/>
              <a:ext cx="762000" cy="762000"/>
            </a:xfrm>
            <a:prstGeom prst="rect">
              <a:avLst/>
            </a:prstGeom>
          </p:spPr>
        </p:pic>
        <p:sp>
          <p:nvSpPr>
            <p:cNvPr id="128" name="TextBox 12">
              <a:extLst>
                <a:ext uri="{FF2B5EF4-FFF2-40B4-BE49-F238E27FC236}">
                  <a16:creationId xmlns:a16="http://schemas.microsoft.com/office/drawing/2014/main" id="{808F7AA3-1AA7-A802-BCE3-DEC81171AF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1864" y="1946275"/>
              <a:ext cx="227885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Claude Model</a:t>
              </a:r>
            </a:p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(Amazon Bedrock)</a:t>
              </a:r>
            </a:p>
          </p:txBody>
        </p:sp>
      </p:grpSp>
      <p:pic>
        <p:nvPicPr>
          <p:cNvPr id="133" name="Graphic 132" descr="Client resource icon for the General Icons category.">
            <a:extLst>
              <a:ext uri="{FF2B5EF4-FFF2-40B4-BE49-F238E27FC236}">
                <a16:creationId xmlns:a16="http://schemas.microsoft.com/office/drawing/2014/main" id="{B8083482-9F5F-80A7-9568-914A169D99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86828" y="2808167"/>
            <a:ext cx="457200" cy="457200"/>
          </a:xfrm>
          <a:prstGeom prst="rect">
            <a:avLst/>
          </a:prstGeom>
        </p:spPr>
      </p:pic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6BB79557-6AA8-B00E-24E0-2E0FEFB45412}"/>
              </a:ext>
            </a:extLst>
          </p:cNvPr>
          <p:cNvCxnSpPr>
            <a:cxnSpLocks/>
            <a:stCxn id="93" idx="3"/>
            <a:endCxn id="87" idx="1"/>
          </p:cNvCxnSpPr>
          <p:nvPr/>
        </p:nvCxnSpPr>
        <p:spPr>
          <a:xfrm>
            <a:off x="1555017" y="1837512"/>
            <a:ext cx="1617796" cy="6434"/>
          </a:xfrm>
          <a:prstGeom prst="straightConnector1">
            <a:avLst/>
          </a:prstGeom>
          <a:ln w="19050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Elbow Connector 138">
            <a:extLst>
              <a:ext uri="{FF2B5EF4-FFF2-40B4-BE49-F238E27FC236}">
                <a16:creationId xmlns:a16="http://schemas.microsoft.com/office/drawing/2014/main" id="{E1FF99F6-1888-B0FF-4808-78EB1DCCA6B3}"/>
              </a:ext>
            </a:extLst>
          </p:cNvPr>
          <p:cNvCxnSpPr>
            <a:cxnSpLocks/>
            <a:stCxn id="69" idx="3"/>
            <a:endCxn id="88" idx="2"/>
          </p:cNvCxnSpPr>
          <p:nvPr/>
        </p:nvCxnSpPr>
        <p:spPr>
          <a:xfrm flipV="1">
            <a:off x="1721487" y="2501945"/>
            <a:ext cx="1833120" cy="1115355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4C384E4A-012E-0F13-3188-FBCBD053C516}"/>
              </a:ext>
            </a:extLst>
          </p:cNvPr>
          <p:cNvSpPr txBox="1"/>
          <p:nvPr/>
        </p:nvSpPr>
        <p:spPr>
          <a:xfrm>
            <a:off x="2187331" y="3233102"/>
            <a:ext cx="1366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1.</a:t>
            </a:r>
            <a:r>
              <a:rPr lang="ko-KR" altLang="en-US"/>
              <a:t> </a:t>
            </a:r>
            <a:r>
              <a:rPr lang="en-US"/>
              <a:t>Okta</a:t>
            </a:r>
            <a:r>
              <a:rPr lang="ko-KR" altLang="en-US"/>
              <a:t> 인증</a:t>
            </a:r>
            <a:endParaRPr lang="en-KR"/>
          </a:p>
        </p:txBody>
      </p:sp>
      <p:cxnSp>
        <p:nvCxnSpPr>
          <p:cNvPr id="143" name="Elbow Connector 142">
            <a:extLst>
              <a:ext uri="{FF2B5EF4-FFF2-40B4-BE49-F238E27FC236}">
                <a16:creationId xmlns:a16="http://schemas.microsoft.com/office/drawing/2014/main" id="{E0A43D78-9359-1069-C613-9F9CC38F7AA3}"/>
              </a:ext>
            </a:extLst>
          </p:cNvPr>
          <p:cNvCxnSpPr>
            <a:cxnSpLocks/>
            <a:stCxn id="70" idx="3"/>
            <a:endCxn id="100" idx="1"/>
          </p:cNvCxnSpPr>
          <p:nvPr/>
        </p:nvCxnSpPr>
        <p:spPr>
          <a:xfrm flipV="1">
            <a:off x="1731969" y="3730944"/>
            <a:ext cx="3584025" cy="583881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6878974F-8D3B-EA51-5750-27018B3F75BD}"/>
              </a:ext>
            </a:extLst>
          </p:cNvPr>
          <p:cNvSpPr txBox="1"/>
          <p:nvPr/>
        </p:nvSpPr>
        <p:spPr>
          <a:xfrm>
            <a:off x="2180339" y="3930182"/>
            <a:ext cx="2492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2.</a:t>
            </a:r>
            <a:r>
              <a:rPr lang="ko-KR" altLang="en-US"/>
              <a:t> </a:t>
            </a:r>
            <a:r>
              <a:rPr lang="en-US" altLang="ko-KR"/>
              <a:t>Virtual Key </a:t>
            </a:r>
            <a:r>
              <a:rPr lang="ko-KR" altLang="en-US"/>
              <a:t>생성</a:t>
            </a:r>
            <a:r>
              <a:rPr lang="en-US" altLang="ko-KR"/>
              <a:t>/</a:t>
            </a:r>
            <a:r>
              <a:rPr lang="ko-KR" altLang="en-US"/>
              <a:t>조회</a:t>
            </a:r>
            <a:endParaRPr lang="en-KR"/>
          </a:p>
        </p:txBody>
      </p:sp>
      <p:cxnSp>
        <p:nvCxnSpPr>
          <p:cNvPr id="147" name="Elbow Connector 146">
            <a:extLst>
              <a:ext uri="{FF2B5EF4-FFF2-40B4-BE49-F238E27FC236}">
                <a16:creationId xmlns:a16="http://schemas.microsoft.com/office/drawing/2014/main" id="{3D5E5366-F456-F8AF-C51E-B8808055FAE0}"/>
              </a:ext>
            </a:extLst>
          </p:cNvPr>
          <p:cNvCxnSpPr>
            <a:cxnSpLocks/>
            <a:stCxn id="100" idx="3"/>
            <a:endCxn id="124" idx="1"/>
          </p:cNvCxnSpPr>
          <p:nvPr/>
        </p:nvCxnSpPr>
        <p:spPr>
          <a:xfrm flipV="1">
            <a:off x="6077994" y="3729945"/>
            <a:ext cx="1483500" cy="999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C24E9A5E-BF87-A688-E347-1F41465DE512}"/>
              </a:ext>
            </a:extLst>
          </p:cNvPr>
          <p:cNvCxnSpPr>
            <a:endCxn id="94" idx="3"/>
          </p:cNvCxnSpPr>
          <p:nvPr/>
        </p:nvCxnSpPr>
        <p:spPr>
          <a:xfrm flipH="1" flipV="1">
            <a:off x="3941559" y="5565657"/>
            <a:ext cx="4247448" cy="822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FBA99DD7-B563-3486-9F35-674FABC09AFD}"/>
              </a:ext>
            </a:extLst>
          </p:cNvPr>
          <p:cNvSpPr txBox="1"/>
          <p:nvPr/>
        </p:nvSpPr>
        <p:spPr>
          <a:xfrm>
            <a:off x="5215677" y="5585901"/>
            <a:ext cx="1255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4.</a:t>
            </a:r>
            <a:r>
              <a:rPr lang="ko-KR" altLang="en-US"/>
              <a:t> </a:t>
            </a:r>
            <a:r>
              <a:rPr lang="en-US"/>
              <a:t>Log </a:t>
            </a:r>
            <a:r>
              <a:rPr lang="ko-KR" altLang="en-US"/>
              <a:t>저장</a:t>
            </a:r>
            <a:endParaRPr lang="en-KR"/>
          </a:p>
        </p:txBody>
      </p: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0516FC6F-789C-3B8C-94EF-3DD204AD1D7C}"/>
              </a:ext>
            </a:extLst>
          </p:cNvPr>
          <p:cNvCxnSpPr>
            <a:cxnSpLocks/>
            <a:stCxn id="115" idx="3"/>
            <a:endCxn id="127" idx="1"/>
          </p:cNvCxnSpPr>
          <p:nvPr/>
        </p:nvCxnSpPr>
        <p:spPr>
          <a:xfrm>
            <a:off x="9649008" y="3698615"/>
            <a:ext cx="1197816" cy="659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B169D94F-A792-79D4-DA48-7F2D9EE686EC}"/>
              </a:ext>
            </a:extLst>
          </p:cNvPr>
          <p:cNvGrpSpPr/>
          <p:nvPr/>
        </p:nvGrpSpPr>
        <p:grpSpPr>
          <a:xfrm>
            <a:off x="9707017" y="3545300"/>
            <a:ext cx="815307" cy="583891"/>
            <a:chOff x="9357280" y="2197912"/>
            <a:chExt cx="1144167" cy="819410"/>
          </a:xfrm>
        </p:grpSpPr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41B54D27-41E8-4DFF-5C0D-687FF8EC97C3}"/>
                </a:ext>
              </a:extLst>
            </p:cNvPr>
            <p:cNvSpPr/>
            <p:nvPr/>
          </p:nvSpPr>
          <p:spPr>
            <a:xfrm>
              <a:off x="9741408" y="2219768"/>
              <a:ext cx="408290" cy="40829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sz="1100"/>
            </a:p>
          </p:txBody>
        </p:sp>
        <p:pic>
          <p:nvPicPr>
            <p:cNvPr id="170" name="Graphic 169" descr="Endpoints resource icon for the Amazon VPC service.&#10;">
              <a:extLst>
                <a:ext uri="{FF2B5EF4-FFF2-40B4-BE49-F238E27FC236}">
                  <a16:creationId xmlns:a16="http://schemas.microsoft.com/office/drawing/2014/main" id="{8D8EC609-224D-8082-F91C-661EB22E2FA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9720577" y="2197912"/>
              <a:ext cx="457200" cy="457200"/>
            </a:xfrm>
            <a:prstGeom prst="rect">
              <a:avLst/>
            </a:prstGeom>
          </p:spPr>
        </p:pic>
        <p:sp>
          <p:nvSpPr>
            <p:cNvPr id="171" name="TextBox 25">
              <a:extLst>
                <a:ext uri="{FF2B5EF4-FFF2-40B4-BE49-F238E27FC236}">
                  <a16:creationId xmlns:a16="http://schemas.microsoft.com/office/drawing/2014/main" id="{32EE5B08-C04C-D41E-A904-E08E931373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57280" y="2650189"/>
              <a:ext cx="1144167" cy="3671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Endpoints</a:t>
              </a:r>
            </a:p>
          </p:txBody>
        </p:sp>
      </p:grpSp>
      <p:cxnSp>
        <p:nvCxnSpPr>
          <p:cNvPr id="172" name="Elbow Connector 171">
            <a:extLst>
              <a:ext uri="{FF2B5EF4-FFF2-40B4-BE49-F238E27FC236}">
                <a16:creationId xmlns:a16="http://schemas.microsoft.com/office/drawing/2014/main" id="{66C33F21-F3E2-2898-AE98-DA534811058B}"/>
              </a:ext>
            </a:extLst>
          </p:cNvPr>
          <p:cNvCxnSpPr>
            <a:cxnSpLocks/>
            <a:stCxn id="122" idx="2"/>
            <a:endCxn id="115" idx="0"/>
          </p:cNvCxnSpPr>
          <p:nvPr/>
        </p:nvCxnSpPr>
        <p:spPr>
          <a:xfrm rot="16200000" flipH="1">
            <a:off x="8499652" y="2549259"/>
            <a:ext cx="715456" cy="821255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Elbow Connector 175">
            <a:extLst>
              <a:ext uri="{FF2B5EF4-FFF2-40B4-BE49-F238E27FC236}">
                <a16:creationId xmlns:a16="http://schemas.microsoft.com/office/drawing/2014/main" id="{197C7EB8-7645-3670-42DA-538E02A06F4E}"/>
              </a:ext>
            </a:extLst>
          </p:cNvPr>
          <p:cNvCxnSpPr>
            <a:cxnSpLocks/>
            <a:stCxn id="116" idx="2"/>
            <a:endCxn id="113" idx="3"/>
          </p:cNvCxnSpPr>
          <p:nvPr/>
        </p:nvCxnSpPr>
        <p:spPr>
          <a:xfrm rot="5400000">
            <a:off x="8559419" y="4892051"/>
            <a:ext cx="1048248" cy="343530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TextBox 178">
            <a:extLst>
              <a:ext uri="{FF2B5EF4-FFF2-40B4-BE49-F238E27FC236}">
                <a16:creationId xmlns:a16="http://schemas.microsoft.com/office/drawing/2014/main" id="{56CCBB13-E981-33C6-AB31-B5A7DC264566}"/>
              </a:ext>
            </a:extLst>
          </p:cNvPr>
          <p:cNvSpPr txBox="1"/>
          <p:nvPr/>
        </p:nvSpPr>
        <p:spPr>
          <a:xfrm>
            <a:off x="8371360" y="1324680"/>
            <a:ext cx="17098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3. Virtual Key</a:t>
            </a:r>
            <a:r>
              <a:rPr lang="ko-KR" altLang="en-US"/>
              <a:t>를 </a:t>
            </a:r>
            <a:endParaRPr lang="en-US" altLang="ko-KR"/>
          </a:p>
          <a:p>
            <a:r>
              <a:rPr lang="ko-KR" altLang="en-US"/>
              <a:t>이용하여 호출</a:t>
            </a:r>
            <a:endParaRPr lang="en-KR"/>
          </a:p>
        </p:txBody>
      </p:sp>
      <p:cxnSp>
        <p:nvCxnSpPr>
          <p:cNvPr id="182" name="Elbow Connector 181">
            <a:extLst>
              <a:ext uri="{FF2B5EF4-FFF2-40B4-BE49-F238E27FC236}">
                <a16:creationId xmlns:a16="http://schemas.microsoft.com/office/drawing/2014/main" id="{64044644-CF75-52EB-7009-C7FD1D406A48}"/>
              </a:ext>
            </a:extLst>
          </p:cNvPr>
          <p:cNvCxnSpPr>
            <a:cxnSpLocks/>
            <a:stCxn id="124" idx="0"/>
            <a:endCxn id="111" idx="3"/>
          </p:cNvCxnSpPr>
          <p:nvPr/>
        </p:nvCxnSpPr>
        <p:spPr>
          <a:xfrm rot="16200000" flipV="1">
            <a:off x="6235567" y="1946817"/>
            <a:ext cx="1385843" cy="1723213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A3417A05-7E28-410B-AB61-AE65309548AC}"/>
              </a:ext>
            </a:extLst>
          </p:cNvPr>
          <p:cNvCxnSpPr>
            <a:cxnSpLocks/>
            <a:stCxn id="69" idx="2"/>
            <a:endCxn id="70" idx="0"/>
          </p:cNvCxnSpPr>
          <p:nvPr/>
        </p:nvCxnSpPr>
        <p:spPr>
          <a:xfrm flipH="1">
            <a:off x="1014882" y="3801966"/>
            <a:ext cx="546" cy="32819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F5C9D33A-9532-427B-620D-21220C7AA64D}"/>
              </a:ext>
            </a:extLst>
          </p:cNvPr>
          <p:cNvCxnSpPr>
            <a:cxnSpLocks/>
            <a:stCxn id="70" idx="2"/>
            <a:endCxn id="71" idx="0"/>
          </p:cNvCxnSpPr>
          <p:nvPr/>
        </p:nvCxnSpPr>
        <p:spPr>
          <a:xfrm>
            <a:off x="1014882" y="4499491"/>
            <a:ext cx="546" cy="3223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2620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</Words>
  <Application>Microsoft Macintosh PowerPoint</Application>
  <PresentationFormat>Widescreen</PresentationFormat>
  <Paragraphs>33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on Bedrock - Enterprise Gateway Architecture</dc:title>
  <dc:subject>PptxGenJS Presentation</dc:subject>
  <dc:creator>Myeongsu Jeon</dc:creator>
  <cp:lastModifiedBy>Jeon, Myeongsu</cp:lastModifiedBy>
  <cp:revision>2</cp:revision>
  <dcterms:created xsi:type="dcterms:W3CDTF">2026-05-26T00:43:43Z</dcterms:created>
  <dcterms:modified xsi:type="dcterms:W3CDTF">2026-05-26T01:52:41Z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2026-05-26T01:52:41Z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9080850a-dcab-4ef6-8ff1-bfab50ecf800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